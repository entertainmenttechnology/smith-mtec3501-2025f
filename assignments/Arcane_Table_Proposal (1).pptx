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1ibhEgHNXJ8zsYiZ0Q6RmU0o/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3002798" y="1866900"/>
            <a:ext cx="3138107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Arcane Table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547597" y="2514600"/>
            <a:ext cx="6048658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Card Recognition System for Augmented Tabletop Gaming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547597" y="3063180"/>
            <a:ext cx="6048658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MTEC 3501 Final Proposal | 4-Month Prototype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What I'm Building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381000" y="971550"/>
            <a:ext cx="8382000" cy="620911"/>
          </a:xfrm>
          <a:prstGeom prst="roundRect">
            <a:avLst>
              <a:gd fmla="val 12272" name="adj"/>
            </a:avLst>
          </a:prstGeom>
          <a:solidFill>
            <a:srgbClr val="1A2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26;p2"/>
          <p:cNvCxnSpPr/>
          <p:nvPr/>
        </p:nvCxnSpPr>
        <p:spPr>
          <a:xfrm>
            <a:off x="400050" y="971550"/>
            <a:ext cx="0" cy="620911"/>
          </a:xfrm>
          <a:prstGeom prst="straightConnector1">
            <a:avLst/>
          </a:prstGeom>
          <a:noFill/>
          <a:ln cap="flat" cmpd="sng" w="381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2"/>
          <p:cNvSpPr/>
          <p:nvPr/>
        </p:nvSpPr>
        <p:spPr>
          <a:xfrm>
            <a:off x="609600" y="1162050"/>
            <a:ext cx="8122158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Real-time card recognition system that overlays digital information on physical playing cards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381000" y="1744861"/>
            <a:ext cx="2692450" cy="1013222"/>
          </a:xfrm>
          <a:prstGeom prst="roundRect">
            <a:avLst>
              <a:gd fmla="val 5640" name="adj"/>
            </a:avLst>
          </a:prstGeom>
          <a:solidFill>
            <a:srgbClr val="1E2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52450" y="1916311"/>
            <a:ext cx="239654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52450" y="2160091"/>
            <a:ext cx="2396541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Overhead camera captures cards played on 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225850" y="1744861"/>
            <a:ext cx="2692450" cy="1013222"/>
          </a:xfrm>
          <a:prstGeom prst="roundRect">
            <a:avLst>
              <a:gd fmla="val 5640" name="adj"/>
            </a:avLst>
          </a:prstGeom>
          <a:solidFill>
            <a:srgbClr val="1E2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397300" y="1916311"/>
            <a:ext cx="239654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Processing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397300" y="2160091"/>
            <a:ext cx="2396541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Computer vision identifies card suits and ranks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070699" y="1744861"/>
            <a:ext cx="2692450" cy="1013222"/>
          </a:xfrm>
          <a:prstGeom prst="roundRect">
            <a:avLst>
              <a:gd fmla="val 5640" name="adj"/>
            </a:avLst>
          </a:prstGeom>
          <a:solidFill>
            <a:srgbClr val="1E2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242149" y="1916311"/>
            <a:ext cx="239654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242149" y="2160091"/>
            <a:ext cx="2396541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Projector displays stats, probabilities, and game info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81000" y="2910483"/>
            <a:ext cx="8382000" cy="504825"/>
          </a:xfrm>
          <a:prstGeom prst="roundRect">
            <a:avLst>
              <a:gd fmla="val 11321" name="adj"/>
            </a:avLst>
          </a:prstGeom>
          <a:solidFill>
            <a:srgbClr val="667E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33400" y="3062883"/>
            <a:ext cx="823874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Focus: Poker overlay showing hand strength, odds, and remaining card probabilities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381000" y="971550"/>
            <a:ext cx="4114800" cy="1289596"/>
          </a:xfrm>
          <a:prstGeom prst="roundRect">
            <a:avLst>
              <a:gd fmla="val 5909" name="adj"/>
            </a:avLst>
          </a:prstGeom>
          <a:solidFill>
            <a:srgbClr val="1A2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571500" y="1162050"/>
            <a:ext cx="3808476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The Physical-Digital Gap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571500" y="1470571"/>
            <a:ext cx="3808476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Physical card games are tactile and social but lack real-time information. Digital games have stats and analytics but lose the tangibility.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4648200" y="971550"/>
            <a:ext cx="4114800" cy="1289596"/>
          </a:xfrm>
          <a:prstGeom prst="roundRect">
            <a:avLst>
              <a:gd fmla="val 5909" name="adj"/>
            </a:avLst>
          </a:prstGeom>
          <a:solidFill>
            <a:srgbClr val="1A2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838700" y="1162050"/>
            <a:ext cx="3808476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Bridge the Gap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838700" y="1470571"/>
            <a:ext cx="3808476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This system keeps the physical cards in your hands while bringing digital intelligence to the table through projection mapping.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381000" y="2432596"/>
            <a:ext cx="8382000" cy="1198066"/>
          </a:xfrm>
          <a:prstGeom prst="roundRect">
            <a:avLst>
              <a:gd fmla="val 6360" name="adj"/>
            </a:avLst>
          </a:prstGeom>
          <a:solidFill>
            <a:srgbClr val="1E2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609600" y="2661196"/>
            <a:ext cx="808329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Personal Connection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09600" y="2975521"/>
            <a:ext cx="8083296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Growing up playing Yu-Gi-Oh and Hearthstone, I always wished my physical cards could evolve and show live stats like digital ones. This prototype starts that journey.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381000" y="3802112"/>
            <a:ext cx="8382000" cy="491430"/>
          </a:xfrm>
          <a:prstGeom prst="roundRect">
            <a:avLst>
              <a:gd fmla="val 11629" name="adj"/>
            </a:avLst>
          </a:prstGeom>
          <a:solidFill>
            <a:srgbClr val="667E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33400" y="3954512"/>
            <a:ext cx="823874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Potential applications: Teaching probability, tournament analysis, accessible gaming, hybrid game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Current Progress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81000" y="971550"/>
            <a:ext cx="8382000" cy="659011"/>
          </a:xfrm>
          <a:prstGeom prst="roundRect">
            <a:avLst>
              <a:gd fmla="val 11563" name="adj"/>
            </a:avLst>
          </a:prstGeom>
          <a:solidFill>
            <a:srgbClr val="1A2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4"/>
          <p:cNvCxnSpPr/>
          <p:nvPr/>
        </p:nvCxnSpPr>
        <p:spPr>
          <a:xfrm>
            <a:off x="400050" y="971550"/>
            <a:ext cx="0" cy="659011"/>
          </a:xfrm>
          <a:prstGeom prst="straightConnector1">
            <a:avLst/>
          </a:prstGeom>
          <a:noFill/>
          <a:ln cap="flat" cmpd="sng" w="381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4"/>
          <p:cNvSpPr/>
          <p:nvPr/>
        </p:nvSpPr>
        <p:spPr>
          <a:xfrm>
            <a:off x="628650" y="1181100"/>
            <a:ext cx="8083296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✓ Working card recognition system (demo video available)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381000" y="1763911"/>
            <a:ext cx="8382000" cy="659011"/>
          </a:xfrm>
          <a:prstGeom prst="roundRect">
            <a:avLst>
              <a:gd fmla="val 11563" name="adj"/>
            </a:avLst>
          </a:prstGeom>
          <a:solidFill>
            <a:srgbClr val="1A2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4"/>
          <p:cNvCxnSpPr/>
          <p:nvPr/>
        </p:nvCxnSpPr>
        <p:spPr>
          <a:xfrm>
            <a:off x="400050" y="1763911"/>
            <a:ext cx="0" cy="659011"/>
          </a:xfrm>
          <a:prstGeom prst="straightConnector1">
            <a:avLst/>
          </a:prstGeom>
          <a:noFill/>
          <a:ln cap="flat" cmpd="sng" w="381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4"/>
          <p:cNvSpPr/>
          <p:nvPr/>
        </p:nvSpPr>
        <p:spPr>
          <a:xfrm>
            <a:off x="628650" y="1973461"/>
            <a:ext cx="8083296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✓ Projector hardware purchased and ready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81000" y="2556272"/>
            <a:ext cx="4114800" cy="977205"/>
          </a:xfrm>
          <a:prstGeom prst="roundRect">
            <a:avLst>
              <a:gd fmla="val 5848" name="adj"/>
            </a:avLst>
          </a:prstGeom>
          <a:solidFill>
            <a:srgbClr val="1E2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52450" y="2727722"/>
            <a:ext cx="384733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Technical Foundation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52450" y="2990552"/>
            <a:ext cx="384733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Computer vision pipeline identifies standard playing cards with rank and suit detection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4648200" y="2556272"/>
            <a:ext cx="4114800" cy="977205"/>
          </a:xfrm>
          <a:prstGeom prst="roundRect">
            <a:avLst>
              <a:gd fmla="val 5848" name="adj"/>
            </a:avLst>
          </a:prstGeom>
          <a:solidFill>
            <a:srgbClr val="1E2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819650" y="2727722"/>
            <a:ext cx="384733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Hardware Setup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4819650" y="2990552"/>
            <a:ext cx="384733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Overhead camera + projector rig design complete, ready for integration testing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381000" y="3666827"/>
            <a:ext cx="8382000" cy="785813"/>
          </a:xfrm>
          <a:prstGeom prst="roundRect">
            <a:avLst>
              <a:gd fmla="val 7273" name="adj"/>
            </a:avLst>
          </a:prstGeom>
          <a:solidFill>
            <a:srgbClr val="667E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52450" y="3838277"/>
            <a:ext cx="819988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Next 4 Months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552450" y="4095452"/>
            <a:ext cx="8199882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Integrate recognition with projection overlay, implement poker probability calculator, optimize tracking accuracy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Technical Approach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381000" y="971550"/>
            <a:ext cx="2009775" cy="1325761"/>
          </a:xfrm>
          <a:prstGeom prst="roundRect">
            <a:avLst>
              <a:gd fmla="val 4311" name="adj"/>
            </a:avLst>
          </a:prstGeom>
          <a:solidFill>
            <a:srgbClr val="1A2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33400" y="1123950"/>
            <a:ext cx="173907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CAPTURE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33400" y="1354336"/>
            <a:ext cx="17390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Camera Input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33400" y="1630561"/>
            <a:ext cx="17390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Overhead webcam captures table at 30fps, processes frames for card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2505075" y="971550"/>
            <a:ext cx="2009775" cy="1325761"/>
          </a:xfrm>
          <a:prstGeom prst="roundRect">
            <a:avLst>
              <a:gd fmla="val 4311" name="adj"/>
            </a:avLst>
          </a:prstGeom>
          <a:solidFill>
            <a:srgbClr val="1A2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2657475" y="1123950"/>
            <a:ext cx="173907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DETECT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2657475" y="1354336"/>
            <a:ext cx="17390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Computer Vision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2657475" y="1630561"/>
            <a:ext cx="17390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OpenCV + custom model identifies cards, tracks position and orientation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629150" y="971550"/>
            <a:ext cx="2009775" cy="1325761"/>
          </a:xfrm>
          <a:prstGeom prst="roundRect">
            <a:avLst>
              <a:gd fmla="val 4311" name="adj"/>
            </a:avLst>
          </a:prstGeom>
          <a:solidFill>
            <a:srgbClr val="1A2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781550" y="1123950"/>
            <a:ext cx="173907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COMPUTE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781550" y="1354336"/>
            <a:ext cx="17390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Game Logic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781550" y="1630561"/>
            <a:ext cx="17390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Python backend calculates probabilities, hand strength, remaining card odds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753225" y="971550"/>
            <a:ext cx="2009775" cy="1325761"/>
          </a:xfrm>
          <a:prstGeom prst="roundRect">
            <a:avLst>
              <a:gd fmla="val 4311" name="adj"/>
            </a:avLst>
          </a:prstGeom>
          <a:solidFill>
            <a:srgbClr val="1A2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905625" y="1123950"/>
            <a:ext cx="173907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DISPLAY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905625" y="1354336"/>
            <a:ext cx="17390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Projection Output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905625" y="1630561"/>
            <a:ext cx="17390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Aligned overlay projects stats directly onto and around detected cards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381000" y="2411611"/>
            <a:ext cx="8382000" cy="1180951"/>
          </a:xfrm>
          <a:prstGeom prst="roundRect">
            <a:avLst>
              <a:gd fmla="val 4839" name="adj"/>
            </a:avLst>
          </a:prstGeom>
          <a:solidFill>
            <a:srgbClr val="1E2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52450" y="2583061"/>
            <a:ext cx="819988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Key Technical Components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52450" y="2864941"/>
            <a:ext cx="404164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Card corner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52450" y="3063032"/>
            <a:ext cx="404164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52450" y="3055447"/>
            <a:ext cx="40416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Suit/rank classification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629150" y="2864941"/>
            <a:ext cx="404164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Projector-camera calibration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629150" y="3063032"/>
            <a:ext cx="404164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Real-time coordinate mapping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381000" y="3706862"/>
            <a:ext cx="8382000" cy="439936"/>
          </a:xfrm>
          <a:prstGeom prst="roundRect">
            <a:avLst>
              <a:gd fmla="val 12991" name="adj"/>
            </a:avLst>
          </a:prstGeom>
          <a:solidFill>
            <a:srgbClr val="667E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14350" y="3840212"/>
            <a:ext cx="827760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Stack:</a:t>
            </a:r>
            <a:r>
              <a:rPr b="0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Python, OpenCV, real-time projection mapping library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/>
          <p:nvPr/>
        </p:nvSpPr>
        <p:spPr>
          <a:xfrm>
            <a:off x="381000" y="3048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4-Month Prototype Plan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381000" y="933450"/>
            <a:ext cx="8382000" cy="651421"/>
          </a:xfrm>
          <a:prstGeom prst="roundRect">
            <a:avLst>
              <a:gd fmla="val 8773" name="adj"/>
            </a:avLst>
          </a:prstGeom>
          <a:solidFill>
            <a:srgbClr val="1A2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514350" y="1066800"/>
            <a:ext cx="77724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Month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428750" y="1066800"/>
            <a:ext cx="734491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System Integration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1428750" y="1291530"/>
            <a:ext cx="734491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Connect camera recognition to projection output, calibrate camera-projector alignment, test detection accuracy across lighting conditions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381000" y="1680121"/>
            <a:ext cx="8382000" cy="651421"/>
          </a:xfrm>
          <a:prstGeom prst="roundRect">
            <a:avLst>
              <a:gd fmla="val 8773" name="adj"/>
            </a:avLst>
          </a:prstGeom>
          <a:solidFill>
            <a:srgbClr val="1A2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14350" y="1813471"/>
            <a:ext cx="77724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Month 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1428750" y="1813471"/>
            <a:ext cx="734491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Poker Logic Implementation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1428750" y="2038201"/>
            <a:ext cx="734491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Build hand evaluation system, implement probability calculator for remaining cards, create overlay UI design for projected information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81000" y="2426791"/>
            <a:ext cx="8382000" cy="651421"/>
          </a:xfrm>
          <a:prstGeom prst="roundRect">
            <a:avLst>
              <a:gd fmla="val 8773" name="adj"/>
            </a:avLst>
          </a:prstGeom>
          <a:solidFill>
            <a:srgbClr val="1A2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514350" y="2560141"/>
            <a:ext cx="77724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Month 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428750" y="2560141"/>
            <a:ext cx="734491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Real-time Optimization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428750" y="2784872"/>
            <a:ext cx="734491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Reduce latency, improve tracking stability with multiple cards, handle occlusion and card overlap scenarios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381000" y="3173462"/>
            <a:ext cx="8382000" cy="651421"/>
          </a:xfrm>
          <a:prstGeom prst="roundRect">
            <a:avLst>
              <a:gd fmla="val 8773" name="adj"/>
            </a:avLst>
          </a:prstGeom>
          <a:solidFill>
            <a:srgbClr val="1A2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14350" y="3306812"/>
            <a:ext cx="77724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Month 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1428750" y="3306812"/>
            <a:ext cx="734491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Testing &amp; Documentation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1428750" y="3531543"/>
            <a:ext cx="734491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User testing with actual gameplay, document system architecture and code, prepare demo video and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381000" y="3920133"/>
            <a:ext cx="8382000" cy="439936"/>
          </a:xfrm>
          <a:prstGeom prst="roundRect">
            <a:avLst>
              <a:gd fmla="val 12991" name="adj"/>
            </a:avLst>
          </a:prstGeom>
          <a:solidFill>
            <a:srgbClr val="667E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14350" y="4053483"/>
            <a:ext cx="827760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Deliverable: Working poker overlay system that displays hand strength and odds in real-time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/>
          <p:nvPr/>
        </p:nvSpPr>
        <p:spPr>
          <a:xfrm>
            <a:off x="381000" y="285750"/>
            <a:ext cx="55669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Expected Challenges &amp; Solutions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381000" y="971550"/>
            <a:ext cx="4114800" cy="1209675"/>
          </a:xfrm>
          <a:prstGeom prst="roundRect">
            <a:avLst>
              <a:gd fmla="val 4724" name="adj"/>
            </a:avLst>
          </a:prstGeom>
          <a:solidFill>
            <a:srgbClr val="1A2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552450" y="1143000"/>
            <a:ext cx="384733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Challenge: Lighting Variations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52450" y="1419225"/>
            <a:ext cx="384733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Different lighting can affect card detection accuracy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552450" y="1666875"/>
            <a:ext cx="384733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r>
              <a:rPr b="0" i="0" lang="en-US" sz="9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>
                <a:solidFill>
                  <a:srgbClr val="00D4AA"/>
                </a:solidFill>
              </a:rPr>
              <a:t>Figure out what lighting works best and plan </a:t>
            </a:r>
            <a:r>
              <a:rPr lang="en-US" sz="900">
                <a:solidFill>
                  <a:srgbClr val="00D4AA"/>
                </a:solidFill>
              </a:rPr>
              <a:t>accordingly, maybe you QR or IR identifiers on card to make it easier.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648200" y="971550"/>
            <a:ext cx="4114800" cy="1209675"/>
          </a:xfrm>
          <a:prstGeom prst="roundRect">
            <a:avLst>
              <a:gd fmla="val 4724" name="adj"/>
            </a:avLst>
          </a:prstGeom>
          <a:solidFill>
            <a:srgbClr val="1A2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819650" y="1143000"/>
            <a:ext cx="384733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Challenge: Projector Alignment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819650" y="1419225"/>
            <a:ext cx="384733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Keeping projected overlays precisely aligned with moving cards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819650" y="1590675"/>
            <a:ext cx="384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r>
              <a:rPr b="0" i="0" lang="en-US" sz="9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>
                <a:solidFill>
                  <a:srgbClr val="00D4AA"/>
                </a:solidFill>
              </a:rPr>
              <a:t>Keystone before the games start and put alignment cues on game surface to help either manual set game surface or </a:t>
            </a:r>
            <a:r>
              <a:rPr lang="en-US" sz="900">
                <a:solidFill>
                  <a:srgbClr val="00D4AA"/>
                </a:solidFill>
              </a:rPr>
              <a:t>auto alignment</a:t>
            </a:r>
            <a:r>
              <a:rPr lang="en-US" sz="900">
                <a:solidFill>
                  <a:srgbClr val="00D4AA"/>
                </a:solidFill>
              </a:rPr>
              <a:t> </a:t>
            </a:r>
            <a:r>
              <a:rPr lang="en-US" sz="900">
                <a:solidFill>
                  <a:srgbClr val="00D4AA"/>
                </a:solidFill>
              </a:rPr>
              <a:t>ideally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381000" y="2314575"/>
            <a:ext cx="4114800" cy="1209675"/>
          </a:xfrm>
          <a:prstGeom prst="roundRect">
            <a:avLst>
              <a:gd fmla="val 4724" name="adj"/>
            </a:avLst>
          </a:prstGeom>
          <a:solidFill>
            <a:srgbClr val="1A2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52450" y="2486025"/>
            <a:ext cx="384733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Challenge: Card Occlusion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52450" y="2762250"/>
            <a:ext cx="384733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Players' hands blocking camera view of cards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52450" y="3009900"/>
            <a:ext cx="384733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r>
              <a:rPr b="0" i="0" lang="en-US" sz="9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>
                <a:solidFill>
                  <a:srgbClr val="00D4AA"/>
                </a:solidFill>
              </a:rPr>
              <a:t>Recognize what is and </a:t>
            </a:r>
            <a:r>
              <a:rPr lang="en-US" sz="900">
                <a:solidFill>
                  <a:srgbClr val="00D4AA"/>
                </a:solidFill>
              </a:rPr>
              <a:t>isn't</a:t>
            </a:r>
            <a:r>
              <a:rPr lang="en-US" sz="900">
                <a:solidFill>
                  <a:srgbClr val="00D4AA"/>
                </a:solidFill>
              </a:rPr>
              <a:t> a card with playing surface zones.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648200" y="2314575"/>
            <a:ext cx="4114800" cy="1209675"/>
          </a:xfrm>
          <a:prstGeom prst="roundRect">
            <a:avLst>
              <a:gd fmla="val 4724" name="adj"/>
            </a:avLst>
          </a:prstGeom>
          <a:solidFill>
            <a:srgbClr val="1A2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819650" y="2486025"/>
            <a:ext cx="384733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Challenge: Processing Speed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819650" y="2762250"/>
            <a:ext cx="384733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Real-time performance needs less than 100ms latency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819650" y="3009900"/>
            <a:ext cx="384733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r>
              <a:rPr b="0" i="0" lang="en-US" sz="9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 Optimize CV pipeline, implement frame skipping, </a:t>
            </a:r>
            <a:r>
              <a:rPr lang="en-US" sz="900">
                <a:solidFill>
                  <a:srgbClr val="00D4AA"/>
                </a:solidFill>
              </a:rPr>
              <a:t>and the right </a:t>
            </a:r>
            <a:r>
              <a:rPr lang="en-US" sz="900">
                <a:solidFill>
                  <a:srgbClr val="00D4AA"/>
                </a:solidFill>
              </a:rPr>
              <a:t>raspberry</a:t>
            </a:r>
            <a:r>
              <a:rPr lang="en-US" sz="900">
                <a:solidFill>
                  <a:srgbClr val="00D4AA"/>
                </a:solidFill>
              </a:rPr>
              <a:t> pi machine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381000" y="3657600"/>
            <a:ext cx="8382000" cy="478036"/>
          </a:xfrm>
          <a:prstGeom prst="roundRect">
            <a:avLst>
              <a:gd fmla="val 11955" name="adj"/>
            </a:avLst>
          </a:prstGeom>
          <a:solidFill>
            <a:srgbClr val="1E2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33400" y="3810000"/>
            <a:ext cx="823874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Backup Plan:</a:t>
            </a:r>
            <a:r>
              <a:rPr b="0" i="0" lang="en-US" sz="975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 If real-time proves too challenging, implement turn-based mode where players press button to trigger recognition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/>
          <p:nvPr/>
        </p:nvSpPr>
        <p:spPr>
          <a:xfrm>
            <a:off x="381000" y="3048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Future Iterations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381000" y="685800"/>
            <a:ext cx="854964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Beyond the 4-month prototype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381000" y="1158180"/>
            <a:ext cx="8382000" cy="959793"/>
          </a:xfrm>
          <a:prstGeom prst="roundRect">
            <a:avLst>
              <a:gd fmla="val 7939" name="adj"/>
            </a:avLst>
          </a:prstGeom>
          <a:solidFill>
            <a:srgbClr val="1A2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8"/>
          <p:cNvCxnSpPr/>
          <p:nvPr/>
        </p:nvCxnSpPr>
        <p:spPr>
          <a:xfrm>
            <a:off x="400050" y="1158180"/>
            <a:ext cx="0" cy="959793"/>
          </a:xfrm>
          <a:prstGeom prst="straightConnector1">
            <a:avLst/>
          </a:prstGeom>
          <a:noFill/>
          <a:ln cap="flat" cmpd="sng" w="38100">
            <a:solidFill>
              <a:srgbClr val="667E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8"/>
          <p:cNvSpPr/>
          <p:nvPr/>
        </p:nvSpPr>
        <p:spPr>
          <a:xfrm>
            <a:off x="590550" y="1329630"/>
            <a:ext cx="8161020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7EE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7EEA"/>
                </a:solidFill>
                <a:latin typeface="Arial"/>
                <a:ea typeface="Arial"/>
                <a:cs typeface="Arial"/>
                <a:sym typeface="Arial"/>
              </a:rPr>
              <a:t>Magic: The Gathering / Custom TCG Version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590550" y="1600051"/>
            <a:ext cx="8161020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Custom cards with unique artwork that come alive with animations, particle effects, and battle sequences. Cards track stats, evolution, and battle history across sessions.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381000" y="2232273"/>
            <a:ext cx="2705100" cy="830461"/>
          </a:xfrm>
          <a:prstGeom prst="roundRect">
            <a:avLst>
              <a:gd fmla="val 6882" name="adj"/>
            </a:avLst>
          </a:prstGeom>
          <a:solidFill>
            <a:srgbClr val="1E2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514350" y="2365623"/>
            <a:ext cx="248716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Advanced Recognition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514350" y="2609404"/>
            <a:ext cx="2487168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QR codes or unique patterns on custom cards for instant identification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3219450" y="2232273"/>
            <a:ext cx="2705100" cy="830461"/>
          </a:xfrm>
          <a:prstGeom prst="roundRect">
            <a:avLst>
              <a:gd fmla="val 6882" name="adj"/>
            </a:avLst>
          </a:prstGeom>
          <a:solidFill>
            <a:srgbClr val="1E2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3352800" y="2365623"/>
            <a:ext cx="248716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Dynamic Content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3352800" y="2609404"/>
            <a:ext cx="2487168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Cards gain experience, evolve artwork, remember matchups and winning strategies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6057900" y="2232273"/>
            <a:ext cx="2705100" cy="830461"/>
          </a:xfrm>
          <a:prstGeom prst="roundRect">
            <a:avLst>
              <a:gd fmla="val 6882" name="adj"/>
            </a:avLst>
          </a:prstGeom>
          <a:solidFill>
            <a:srgbClr val="1E29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6191250" y="2365623"/>
            <a:ext cx="248716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Sound Integration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191250" y="2609404"/>
            <a:ext cx="2487168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Reactive audio triggers when cards clash or special abilities activate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381000" y="3177034"/>
            <a:ext cx="8382000" cy="887611"/>
          </a:xfrm>
          <a:prstGeom prst="roundRect">
            <a:avLst>
              <a:gd fmla="val 6439" name="adj"/>
            </a:avLst>
          </a:prstGeom>
          <a:solidFill>
            <a:srgbClr val="1A2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514350" y="3310384"/>
            <a:ext cx="827760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Long-term Vision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514350" y="3573214"/>
            <a:ext cx="408051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Tournament mode with spectator displays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514350" y="3771305"/>
            <a:ext cx="408051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Portable setup for conventions/events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4629150" y="3573214"/>
            <a:ext cx="408051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API for indie game designers to create new games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629150" y="3771305"/>
            <a:ext cx="408051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Cloud-connected card databases and matchmaking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381000" y="4178945"/>
            <a:ext cx="8382000" cy="401836"/>
          </a:xfrm>
          <a:prstGeom prst="roundRect">
            <a:avLst>
              <a:gd fmla="val 14222" name="adj"/>
            </a:avLst>
          </a:prstGeom>
          <a:solidFill>
            <a:srgbClr val="667E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495300" y="4293245"/>
            <a:ext cx="831646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poker prototype proves the system works. Custom cards unlock creative gameplay possibilities.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Questions &amp; Feedback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381000" y="1152823"/>
            <a:ext cx="8382000" cy="1866454"/>
          </a:xfrm>
          <a:prstGeom prst="roundRect">
            <a:avLst>
              <a:gd fmla="val 4083" name="adj"/>
            </a:avLst>
          </a:prstGeom>
          <a:solidFill>
            <a:srgbClr val="1A23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09600" y="1381423"/>
            <a:ext cx="8083296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Areas Where I Need Feedback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09600" y="1708993"/>
            <a:ext cx="8083296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Is the 4-month scope appropriate, or should I narrow/expand focus?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609600" y="1998464"/>
            <a:ext cx="8083296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Should I prioritize detection accuracy or overlay visual polish?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609600" y="2287935"/>
            <a:ext cx="8083296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Any suggestions for testing the system with real players?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09600" y="2577405"/>
            <a:ext cx="8083296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8E8E8"/>
                </a:solidFill>
                <a:latin typeface="Arial"/>
                <a:ea typeface="Arial"/>
                <a:cs typeface="Arial"/>
                <a:sym typeface="Arial"/>
              </a:rPr>
              <a:t>Technical recommendations for the CV pipeline or projection mapping?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381000" y="3209776"/>
            <a:ext cx="8382000" cy="986730"/>
          </a:xfrm>
          <a:prstGeom prst="roundRect">
            <a:avLst>
              <a:gd fmla="val 7722" name="adj"/>
            </a:avLst>
          </a:prstGeom>
          <a:solidFill>
            <a:srgbClr val="667E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30352" y="3438376"/>
            <a:ext cx="808329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Ready to Show Demo Video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530352" y="3781276"/>
            <a:ext cx="808329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Current card recognition system in action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2025-12-11T20:21:02Z</dcterms:created>
  <dc:creator>Arcane Table Project</dc:creator>
</cp:coreProperties>
</file>